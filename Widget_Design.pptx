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CA00"/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9527"/>
    <p:restoredTop sz="94694"/>
  </p:normalViewPr>
  <p:slideViewPr>
    <p:cSldViewPr snapToGrid="0" snapToObjects="1">
      <p:cViewPr>
        <p:scale>
          <a:sx n="150" d="100"/>
          <a:sy n="150" d="100"/>
        </p:scale>
        <p:origin x="144" y="-1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C35B1C-F075-204A-5937-3ECE459B3F0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80EF481-B69B-959D-9D8F-63E0AF86642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88ED7E7-3893-4826-2376-06535A5D8B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DCDD2B-02F6-FD41-9579-68DD8AD7DD44}" type="datetimeFigureOut">
              <a:rPr lang="en-US" smtClean="0"/>
              <a:t>7/31/22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AEDB1E5-02AA-37FE-B742-5CF9AC3712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8BC7760-27F0-5344-03D7-F705FAB16D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2CA71C-E4E4-AC43-8E61-E507698F7D6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2737878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61173D-C6A0-C4A9-7DBE-000D8B8300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D101CC5-249C-8E28-1005-D660576943C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9FCB56F-F0FF-9DED-E244-D3DD9960A5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DCDD2B-02F6-FD41-9579-68DD8AD7DD44}" type="datetimeFigureOut">
              <a:rPr lang="en-US" smtClean="0"/>
              <a:t>7/31/22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0ABE3FD-C2E3-5F2B-76BA-08645CB836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E390D31-2AE2-7813-542A-3A750D047F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2CA71C-E4E4-AC43-8E61-E507698F7D6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2188620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203F63-BE61-AA14-DC08-4CF8E41D2D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54DE83B-32F0-F3F3-E681-90FCBD9A209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AB656F7-D8C4-FF05-128F-90F57A28C5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DCDD2B-02F6-FD41-9579-68DD8AD7DD44}" type="datetimeFigureOut">
              <a:rPr lang="en-US" smtClean="0"/>
              <a:t>7/31/22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D66C84D-A2CC-C334-6378-5575096179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9097480-31CD-2E01-4A86-D83F3DC873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2CA71C-E4E4-AC43-8E61-E507698F7D6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7528851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D4AB6C-310C-283F-DCEC-6CDA163FF8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29076D1-8F4F-3E3D-0CCF-61A8002F1F7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421C644-6B8E-7B21-BDE8-8266965FA91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D1D07C0-291C-E024-B501-8F017050E9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DCDD2B-02F6-FD41-9579-68DD8AD7DD44}" type="datetimeFigureOut">
              <a:rPr lang="en-US" smtClean="0"/>
              <a:t>7/31/22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0796E6D-D0CB-A0EB-3446-DFA71933FD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8394712-922D-3684-1D2D-D168C3690B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2CA71C-E4E4-AC43-8E61-E507698F7D6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3602537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23631F-0DE7-B13D-D491-28FA06C41C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53326EC-6D5D-501B-DE2B-6FF62E9D635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92121BF-E036-90CD-4C00-D20D59879B3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9BF1F32-023F-1C70-4244-F214A1474D7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D533BDD-44C6-3442-A086-40C6B33FC36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DA90B3E-9A4F-113C-F06D-0FDCDB6649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DCDD2B-02F6-FD41-9579-68DD8AD7DD44}" type="datetimeFigureOut">
              <a:rPr lang="en-US" smtClean="0"/>
              <a:t>7/31/22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2D07C50-2D66-BBC2-89C8-77667CBEC4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A3FEAA1-C2DC-CD13-3C3D-8D81F2AF6A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2CA71C-E4E4-AC43-8E61-E507698F7D6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014181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5C1CA9-644C-A1E8-4298-1F3C580B6C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E5EE570-D944-B02A-A081-D067191F59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DCDD2B-02F6-FD41-9579-68DD8AD7DD44}" type="datetimeFigureOut">
              <a:rPr lang="en-US" smtClean="0"/>
              <a:t>7/31/22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E05BB7A-4C1F-86BB-B3AD-8BBD054D44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20C9E96-29F4-62DE-6005-1664825E62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2CA71C-E4E4-AC43-8E61-E507698F7D6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6811504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CDA36B2-0AAA-6638-F844-113B0EFA09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DCDD2B-02F6-FD41-9579-68DD8AD7DD44}" type="datetimeFigureOut">
              <a:rPr lang="en-US" smtClean="0"/>
              <a:t>7/31/22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1B551F2-29A2-867D-B4FF-451C59932D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B2B92DC-52C4-7898-E4F2-915ED3E7E9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2CA71C-E4E4-AC43-8E61-E507698F7D6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8286397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835F55-4D7D-3C48-2180-407B3B160F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9FC824C-3E11-F027-A14C-4ACD0D2097E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4A72645-0CB3-A02F-5AE9-569C3A56E7B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4617624-8A5A-87D4-33DD-AE6FEDF7BD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DCDD2B-02F6-FD41-9579-68DD8AD7DD44}" type="datetimeFigureOut">
              <a:rPr lang="en-US" smtClean="0"/>
              <a:t>7/31/22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F07F1B4-C43F-879F-E1F4-460E820A79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1F0669E-EF84-F48B-0EF1-26F9196B32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2CA71C-E4E4-AC43-8E61-E507698F7D6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3208434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9C48F3-C695-3E23-62C6-3DCF282AE9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CA80B5A-21D1-D7B8-5F83-E6CA3F40BB6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4F32839-14F2-E8F7-550E-36D5BEAFB02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F22BEB1-EF98-7237-B958-95FBE2A062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DCDD2B-02F6-FD41-9579-68DD8AD7DD44}" type="datetimeFigureOut">
              <a:rPr lang="en-US" smtClean="0"/>
              <a:t>7/31/22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8FF040F-30EA-AD5E-F9B9-EE4E684D72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2DEB8A1-395F-72A9-9406-A8FD52EECF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2CA71C-E4E4-AC43-8E61-E507698F7D6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1948502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E79914-80BB-65A8-16A9-F307AA7993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78FF684-EDF9-92FB-54D4-C7BE0F8CCCF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E2C57D9-564E-225E-0040-892FCF1217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DCDD2B-02F6-FD41-9579-68DD8AD7DD44}" type="datetimeFigureOut">
              <a:rPr lang="en-US" smtClean="0"/>
              <a:t>7/31/22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4C3C0E8-6196-B079-8733-EC3CE9EA9F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9374C05-5194-9BFE-B9D5-EF868809C8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2CA71C-E4E4-AC43-8E61-E507698F7D6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5975254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58A95B5A-1895-56E0-D6D7-0DB7EFBA0E8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9F7C343-58F1-3887-D4DC-9C38824E384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3AEBC98-98DD-4C77-E6DC-2586CB8CBE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DCDD2B-02F6-FD41-9579-68DD8AD7DD44}" type="datetimeFigureOut">
              <a:rPr lang="en-US" smtClean="0"/>
              <a:t>7/31/22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E99C536-EC5D-1DF5-0B49-5584027FEA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69E612E-B0DC-DB45-3CD3-B2C636CAE3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2CA71C-E4E4-AC43-8E61-E507698F7D6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14470451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BC0D3DF-EC35-CC14-EAF1-A0DE8BDE53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ABDD2B4-56D9-23BB-CB08-9CD83DD4D4D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ED26580-0E67-F4D6-6FB5-8707C3B4C76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FDCDD2B-02F6-FD41-9579-68DD8AD7DD44}" type="datetimeFigureOut">
              <a:rPr lang="en-US" smtClean="0"/>
              <a:t>7/31/22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D1166F1-E621-14E1-AF80-A040C27183D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D6B59A9-8116-E3A5-DA3B-1A6525C894E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12CA71C-E4E4-AC43-8E61-E507698F7D6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0136520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>
            <a:lumMod val="9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6C1AB385-CE3A-B036-CABB-9535AF1D1DAA}"/>
              </a:ext>
            </a:extLst>
          </p:cNvPr>
          <p:cNvSpPr/>
          <p:nvPr/>
        </p:nvSpPr>
        <p:spPr>
          <a:xfrm>
            <a:off x="7751117" y="1915168"/>
            <a:ext cx="3276000" cy="3276000"/>
          </a:xfrm>
          <a:prstGeom prst="roundRect">
            <a:avLst>
              <a:gd name="adj" fmla="val 6592"/>
            </a:avLst>
          </a:prstGeom>
          <a:solidFill>
            <a:schemeClr val="bg1"/>
          </a:solidFill>
          <a:ln>
            <a:noFill/>
          </a:ln>
          <a:effectLst>
            <a:softEdge rad="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A74F9D85-11F9-A94E-56B8-68E348838131}"/>
              </a:ext>
            </a:extLst>
          </p:cNvPr>
          <p:cNvSpPr/>
          <p:nvPr/>
        </p:nvSpPr>
        <p:spPr>
          <a:xfrm>
            <a:off x="3562776" y="1915168"/>
            <a:ext cx="3276000" cy="1548000"/>
          </a:xfrm>
          <a:prstGeom prst="roundRect">
            <a:avLst>
              <a:gd name="adj" fmla="val 13616"/>
            </a:avLst>
          </a:prstGeom>
          <a:solidFill>
            <a:schemeClr val="bg1"/>
          </a:solidFill>
          <a:ln>
            <a:noFill/>
          </a:ln>
          <a:effectLst>
            <a:softEdge rad="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1" name="Rounded Rectangle 10">
            <a:extLst>
              <a:ext uri="{FF2B5EF4-FFF2-40B4-BE49-F238E27FC236}">
                <a16:creationId xmlns:a16="http://schemas.microsoft.com/office/drawing/2014/main" id="{DCAFA58A-412E-FA12-DF38-51AC9598E44E}"/>
              </a:ext>
            </a:extLst>
          </p:cNvPr>
          <p:cNvSpPr/>
          <p:nvPr/>
        </p:nvSpPr>
        <p:spPr>
          <a:xfrm>
            <a:off x="1102435" y="1915168"/>
            <a:ext cx="1548000" cy="1548000"/>
          </a:xfrm>
          <a:prstGeom prst="roundRect">
            <a:avLst>
              <a:gd name="adj" fmla="val 15468"/>
            </a:avLst>
          </a:prstGeom>
          <a:solidFill>
            <a:schemeClr val="bg1"/>
          </a:solidFill>
          <a:ln>
            <a:noFill/>
          </a:ln>
          <a:effectLst>
            <a:softEdge rad="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5A221B59-1A67-E9BD-22FE-488562223D0B}"/>
              </a:ext>
            </a:extLst>
          </p:cNvPr>
          <p:cNvSpPr txBox="1"/>
          <p:nvPr/>
        </p:nvSpPr>
        <p:spPr>
          <a:xfrm>
            <a:off x="1102435" y="1308100"/>
            <a:ext cx="1548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Small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64A6CC59-84E6-5532-D75E-3A241FCB7E88}"/>
              </a:ext>
            </a:extLst>
          </p:cNvPr>
          <p:cNvSpPr txBox="1"/>
          <p:nvPr/>
        </p:nvSpPr>
        <p:spPr>
          <a:xfrm>
            <a:off x="3562776" y="1308100"/>
            <a:ext cx="1548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Medium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3772ACFD-A020-CBEF-318F-773FDBAFD15D}"/>
              </a:ext>
            </a:extLst>
          </p:cNvPr>
          <p:cNvSpPr txBox="1"/>
          <p:nvPr/>
        </p:nvSpPr>
        <p:spPr>
          <a:xfrm>
            <a:off x="7751117" y="1297500"/>
            <a:ext cx="1548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Large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05840" y="228600"/>
            <a:ext cx="77724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600" b="1" i="0">
                <a:solidFill>
                  <a:srgbClr val="000000"/>
                </a:solidFill>
                <a:latin typeface="Helvetica Neue"/>
              </a:rPr>
              <a:t>CBA App — Home Screen Widget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05840" y="749808"/>
            <a:ext cx="868680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0">
                <a:solidFill>
                  <a:srgbClr val="666699"/>
                </a:solidFill>
                <a:latin typeface="Verdana"/>
              </a:rPr>
              <a:t>Balance and recent transactions, in the Small, Medium and Large iOS widget families</a:t>
            </a:r>
          </a:p>
        </p:txBody>
      </p:sp>
      <p:sp>
        <p:nvSpPr>
          <p:cNvPr id="17" name="Oval 16"/>
          <p:cNvSpPr/>
          <p:nvPr/>
        </p:nvSpPr>
        <p:spPr>
          <a:xfrm>
            <a:off x="1248156" y="2061057"/>
            <a:ext cx="237744" cy="237744"/>
          </a:xfrm>
          <a:prstGeom prst="ellipse">
            <a:avLst/>
          </a:prstGeom>
          <a:solidFill>
            <a:srgbClr val="FFCC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b="1" sz="900">
                <a:solidFill>
                  <a:srgbClr val="000000"/>
                </a:solidFill>
                <a:latin typeface="Helvetica Neue"/>
              </a:rPr>
              <a:t>$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248156" y="2340864"/>
            <a:ext cx="1255471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1" i="0">
                <a:solidFill>
                  <a:srgbClr val="666699"/>
                </a:solidFill>
                <a:latin typeface="Verdana"/>
              </a:rPr>
              <a:t>AVAILABLE BALANCE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248156" y="2542032"/>
            <a:ext cx="1255471" cy="29260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500" b="1" i="0">
                <a:solidFill>
                  <a:srgbClr val="000000"/>
                </a:solidFill>
                <a:latin typeface="Helvetica Neue"/>
              </a:rPr>
              <a:t>$4,213.55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248156" y="3108960"/>
            <a:ext cx="1255471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 i="0">
                <a:solidFill>
                  <a:srgbClr val="666699"/>
                </a:solidFill>
                <a:latin typeface="Verdana"/>
              </a:rPr>
              <a:t>Everyday Account</a:t>
            </a:r>
          </a:p>
        </p:txBody>
      </p:sp>
      <p:sp>
        <p:nvSpPr>
          <p:cNvPr id="21" name="Oval 20"/>
          <p:cNvSpPr/>
          <p:nvPr/>
        </p:nvSpPr>
        <p:spPr>
          <a:xfrm>
            <a:off x="3727094" y="2079345"/>
            <a:ext cx="201168" cy="201168"/>
          </a:xfrm>
          <a:prstGeom prst="ellipse">
            <a:avLst/>
          </a:prstGeom>
          <a:solidFill>
            <a:srgbClr val="FFCC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b="1" sz="800">
                <a:solidFill>
                  <a:srgbClr val="000000"/>
                </a:solidFill>
                <a:latin typeface="Helvetica Neue"/>
              </a:rPr>
              <a:t>$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727094" y="2331720"/>
            <a:ext cx="13716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1" i="0">
                <a:solidFill>
                  <a:srgbClr val="666699"/>
                </a:solidFill>
                <a:latin typeface="Verdana"/>
              </a:rPr>
              <a:t>BALANCE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727094" y="2505456"/>
            <a:ext cx="137160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 i="0">
                <a:solidFill>
                  <a:srgbClr val="000000"/>
                </a:solidFill>
                <a:latin typeface="Helvetica Neue"/>
              </a:rPr>
              <a:t>$4,213.55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727094" y="2862072"/>
            <a:ext cx="13716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 b="0" i="0">
                <a:solidFill>
                  <a:srgbClr val="666699"/>
                </a:solidFill>
                <a:latin typeface="Verdana"/>
              </a:rPr>
              <a:t>Everyday Acc.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5175504" y="2148840"/>
            <a:ext cx="0" cy="0"/>
          </a:xfrm>
          <a:prstGeom prst="line">
            <a:avLst/>
          </a:prstGeom>
          <a:ln w="12700">
            <a:solidFill>
              <a:srgbClr val="CCCCC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Rectangle 25"/>
          <p:cNvSpPr/>
          <p:nvPr/>
        </p:nvSpPr>
        <p:spPr>
          <a:xfrm>
            <a:off x="5175504" y="2148840"/>
            <a:ext cx="10972" cy="1051560"/>
          </a:xfrm>
          <a:prstGeom prst="rect">
            <a:avLst/>
          </a:prstGeom>
          <a:solidFill>
            <a:srgbClr val="CCCC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303520" y="2079345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b="1" i="0">
                <a:solidFill>
                  <a:srgbClr val="666699"/>
                </a:solidFill>
                <a:latin typeface="Verdana"/>
              </a:rPr>
              <a:t>LATEST TRANSACTION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303520" y="2377440"/>
            <a:ext cx="13716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000000"/>
                </a:solidFill>
                <a:latin typeface="Helvetica Neue"/>
              </a:rPr>
              <a:t>Woolworths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303520" y="2606040"/>
            <a:ext cx="13716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 b="0" i="0">
                <a:solidFill>
                  <a:srgbClr val="666699"/>
                </a:solidFill>
                <a:latin typeface="Verdana"/>
              </a:rPr>
              <a:t>Today · Groceries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303520" y="2798064"/>
            <a:ext cx="13716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100" b="1" i="0">
                <a:solidFill>
                  <a:srgbClr val="CC3300"/>
                </a:solidFill>
                <a:latin typeface="Verdana"/>
              </a:rPr>
              <a:t>-$42.10</a:t>
            </a:r>
          </a:p>
        </p:txBody>
      </p:sp>
      <p:sp>
        <p:nvSpPr>
          <p:cNvPr id="31" name="Oval 30"/>
          <p:cNvSpPr/>
          <p:nvPr/>
        </p:nvSpPr>
        <p:spPr>
          <a:xfrm>
            <a:off x="7952536" y="2115921"/>
            <a:ext cx="256032" cy="256032"/>
          </a:xfrm>
          <a:prstGeom prst="ellipse">
            <a:avLst/>
          </a:prstGeom>
          <a:solidFill>
            <a:srgbClr val="FFCC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b="1" sz="1000">
                <a:solidFill>
                  <a:srgbClr val="000000"/>
                </a:solidFill>
                <a:latin typeface="Helvetica Neue"/>
              </a:rPr>
              <a:t>$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281720" y="2157984"/>
            <a:ext cx="173736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i="0">
                <a:solidFill>
                  <a:srgbClr val="666699"/>
                </a:solidFill>
                <a:latin typeface="Verdana"/>
              </a:rPr>
              <a:t>AVAILABLE BALANCE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952536" y="2395728"/>
            <a:ext cx="2873959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600" b="1" i="0">
                <a:solidFill>
                  <a:srgbClr val="000000"/>
                </a:solidFill>
                <a:latin typeface="Helvetica Neue"/>
              </a:rPr>
              <a:t>$4,213.55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952536" y="2862072"/>
            <a:ext cx="2873959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666699"/>
                </a:solidFill>
                <a:latin typeface="Verdana"/>
              </a:rPr>
              <a:t>Everyday Account · ••4821</a:t>
            </a:r>
          </a:p>
        </p:txBody>
      </p:sp>
      <p:cxnSp>
        <p:nvCxnSpPr>
          <p:cNvPr id="35" name="Connector 34"/>
          <p:cNvCxnSpPr/>
          <p:nvPr/>
        </p:nvCxnSpPr>
        <p:spPr>
          <a:xfrm>
            <a:off x="7952536" y="3108960"/>
            <a:ext cx="2873960" cy="0"/>
          </a:xfrm>
          <a:prstGeom prst="line">
            <a:avLst/>
          </a:prstGeom>
          <a:ln w="12700">
            <a:solidFill>
              <a:srgbClr val="CCCCC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TextBox 35"/>
          <p:cNvSpPr txBox="1"/>
          <p:nvPr/>
        </p:nvSpPr>
        <p:spPr>
          <a:xfrm>
            <a:off x="7952536" y="3163824"/>
            <a:ext cx="2873959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i="0">
                <a:solidFill>
                  <a:srgbClr val="666699"/>
                </a:solidFill>
                <a:latin typeface="Verdana"/>
              </a:rPr>
              <a:t>LAST TRANSACTIONS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952536" y="3401568"/>
            <a:ext cx="1874519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000000"/>
                </a:solidFill>
                <a:latin typeface="Helvetica Neue"/>
              </a:rPr>
              <a:t>Woolworths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952536" y="3630168"/>
            <a:ext cx="1874519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 i="0">
                <a:solidFill>
                  <a:srgbClr val="666699"/>
                </a:solidFill>
                <a:latin typeface="Verdana"/>
              </a:rPr>
              <a:t>Today · Groceries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827056" y="3401568"/>
            <a:ext cx="999439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200" b="1" i="0">
                <a:solidFill>
                  <a:srgbClr val="CC3300"/>
                </a:solidFill>
                <a:latin typeface="Verdana"/>
              </a:rPr>
              <a:t>-$42.10</a:t>
            </a:r>
          </a:p>
        </p:txBody>
      </p:sp>
      <p:cxnSp>
        <p:nvCxnSpPr>
          <p:cNvPr id="40" name="Connector 39"/>
          <p:cNvCxnSpPr/>
          <p:nvPr/>
        </p:nvCxnSpPr>
        <p:spPr>
          <a:xfrm>
            <a:off x="7952536" y="3858768"/>
            <a:ext cx="2873960" cy="0"/>
          </a:xfrm>
          <a:prstGeom prst="line">
            <a:avLst/>
          </a:prstGeom>
          <a:ln w="9525">
            <a:solidFill>
              <a:srgbClr val="EFEDE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1" name="TextBox 40"/>
          <p:cNvSpPr txBox="1"/>
          <p:nvPr/>
        </p:nvSpPr>
        <p:spPr>
          <a:xfrm>
            <a:off x="7952536" y="3950208"/>
            <a:ext cx="1874519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000000"/>
                </a:solidFill>
                <a:latin typeface="Helvetica Neue"/>
              </a:rPr>
              <a:t>Salary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952536" y="4178808"/>
            <a:ext cx="1874519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 i="0">
                <a:solidFill>
                  <a:srgbClr val="666699"/>
                </a:solidFill>
                <a:latin typeface="Verdana"/>
              </a:rPr>
              <a:t>Yesterday · Income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827056" y="3950208"/>
            <a:ext cx="999439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200" b="1" i="0">
                <a:solidFill>
                  <a:srgbClr val="000000"/>
                </a:solidFill>
                <a:latin typeface="Verdana"/>
              </a:rPr>
              <a:t>+$2,850.00</a:t>
            </a:r>
          </a:p>
        </p:txBody>
      </p:sp>
      <p:cxnSp>
        <p:nvCxnSpPr>
          <p:cNvPr id="44" name="Connector 43"/>
          <p:cNvCxnSpPr/>
          <p:nvPr/>
        </p:nvCxnSpPr>
        <p:spPr>
          <a:xfrm>
            <a:off x="7952536" y="4407408"/>
            <a:ext cx="2873960" cy="0"/>
          </a:xfrm>
          <a:prstGeom prst="line">
            <a:avLst/>
          </a:prstGeom>
          <a:ln w="9525">
            <a:solidFill>
              <a:srgbClr val="EFEDE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5" name="TextBox 44"/>
          <p:cNvSpPr txBox="1"/>
          <p:nvPr/>
        </p:nvSpPr>
        <p:spPr>
          <a:xfrm>
            <a:off x="7952536" y="4498848"/>
            <a:ext cx="1874519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000000"/>
                </a:solidFill>
                <a:latin typeface="Helvetica Neue"/>
              </a:rPr>
              <a:t>Netflix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7952536" y="4727448"/>
            <a:ext cx="1874519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 i="0">
                <a:solidFill>
                  <a:srgbClr val="666699"/>
                </a:solidFill>
                <a:latin typeface="Verdana"/>
              </a:rPr>
              <a:t>18 Aug · Entertainment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9827056" y="4498848"/>
            <a:ext cx="999439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200" b="1" i="0">
                <a:solidFill>
                  <a:srgbClr val="CC3300"/>
                </a:solidFill>
                <a:latin typeface="Verdana"/>
              </a:rPr>
              <a:t>-$16.99</a:t>
            </a:r>
          </a:p>
        </p:txBody>
      </p:sp>
      <p:sp>
        <p:nvSpPr>
          <p:cNvPr id="48" name="Oval 47"/>
          <p:cNvSpPr/>
          <p:nvPr/>
        </p:nvSpPr>
        <p:spPr>
          <a:xfrm>
            <a:off x="2423160" y="1709928"/>
            <a:ext cx="219456" cy="219456"/>
          </a:xfrm>
          <a:prstGeom prst="ellipse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b="1" sz="1000">
                <a:solidFill>
                  <a:srgbClr val="FFFFFF"/>
                </a:solidFill>
                <a:latin typeface="Helvetica Neue"/>
              </a:rPr>
              <a:t>1</a:t>
            </a:r>
          </a:p>
        </p:txBody>
      </p:sp>
      <p:sp>
        <p:nvSpPr>
          <p:cNvPr id="49" name="Oval 48"/>
          <p:cNvSpPr/>
          <p:nvPr/>
        </p:nvSpPr>
        <p:spPr>
          <a:xfrm>
            <a:off x="6601968" y="1709928"/>
            <a:ext cx="219456" cy="219456"/>
          </a:xfrm>
          <a:prstGeom prst="ellipse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b="1" sz="1000">
                <a:solidFill>
                  <a:srgbClr val="FFFFFF"/>
                </a:solidFill>
                <a:latin typeface="Helvetica Neue"/>
              </a:rPr>
              <a:t>2</a:t>
            </a:r>
          </a:p>
        </p:txBody>
      </p:sp>
      <p:sp>
        <p:nvSpPr>
          <p:cNvPr id="50" name="Oval 49"/>
          <p:cNvSpPr/>
          <p:nvPr/>
        </p:nvSpPr>
        <p:spPr>
          <a:xfrm>
            <a:off x="10771632" y="1709928"/>
            <a:ext cx="219456" cy="219456"/>
          </a:xfrm>
          <a:prstGeom prst="ellipse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b="1" sz="1000">
                <a:solidFill>
                  <a:srgbClr val="FFFFFF"/>
                </a:solidFill>
                <a:latin typeface="Helvetica Neue"/>
              </a:rPr>
              <a:t>3</a:t>
            </a:r>
          </a:p>
        </p:txBody>
      </p:sp>
      <p:sp>
        <p:nvSpPr>
          <p:cNvPr id="51" name="Oval 50"/>
          <p:cNvSpPr/>
          <p:nvPr/>
        </p:nvSpPr>
        <p:spPr>
          <a:xfrm>
            <a:off x="10817352" y="3140964"/>
            <a:ext cx="219456" cy="219456"/>
          </a:xfrm>
          <a:prstGeom prst="ellipse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b="1" sz="1000">
                <a:solidFill>
                  <a:srgbClr val="FFFFFF"/>
                </a:solidFill>
                <a:latin typeface="Helvetica Neue"/>
              </a:rPr>
              <a:t>4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1005840" y="5349240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 i="0">
                <a:solidFill>
                  <a:srgbClr val="000000"/>
                </a:solidFill>
                <a:latin typeface="Helvetica Neue"/>
              </a:rPr>
              <a:t>Design notes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1005840" y="5687568"/>
            <a:ext cx="4892040" cy="1143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5000"/>
              </a:lnSpc>
              <a:spcAft>
                <a:spcPts val="800"/>
              </a:spcAft>
            </a:pPr>
            <a:r>
              <a:rPr sz="1050">
                <a:solidFill>
                  <a:srgbClr val="000000"/>
                </a:solidFill>
                <a:latin typeface="Verdana"/>
              </a:rPr>
              <a:t>①  Tap anywhere on the widget to open the app — on the Large widget, tapping a row deep-links straight to that transaction.</a:t>
            </a:r>
          </a:p>
          <a:p>
            <a:pPr>
              <a:lnSpc>
                <a:spcPct val="105000"/>
              </a:lnSpc>
              <a:spcAft>
                <a:spcPts val="800"/>
              </a:spcAft>
            </a:pPr>
            <a:r>
              <a:rPr sz="1050">
                <a:solidFill>
                  <a:srgbClr val="000000"/>
                </a:solidFill>
                <a:latin typeface="Verdana"/>
              </a:rPr>
              <a:t>②  Content scales with widget size: Small shows balance only, Medium adds the latest transaction, Large shows the last three.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6080760" y="5687568"/>
            <a:ext cx="4892040" cy="1143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5000"/>
              </a:lnSpc>
              <a:spcAft>
                <a:spcPts val="800"/>
              </a:spcAft>
            </a:pPr>
            <a:r>
              <a:rPr sz="1050">
                <a:solidFill>
                  <a:srgbClr val="000000"/>
                </a:solidFill>
                <a:latin typeface="Verdana"/>
              </a:rPr>
              <a:t>③  Balance and transactions refresh automatically via a WidgetKit timeline reload when new activity posts — no manual refresh.</a:t>
            </a:r>
          </a:p>
          <a:p>
            <a:pPr>
              <a:lnSpc>
                <a:spcPct val="105000"/>
              </a:lnSpc>
              <a:spcAft>
                <a:spcPts val="800"/>
              </a:spcAft>
            </a:pPr>
            <a:r>
              <a:rPr sz="1050">
                <a:solidFill>
                  <a:srgbClr val="000000"/>
                </a:solidFill>
                <a:latin typeface="Verdana"/>
              </a:rPr>
              <a:t>④  Amounts are colour-coded: red for money out, black for money in, matching the in-app transaction ledger.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1005840" y="6492240"/>
            <a:ext cx="99669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0" i="1">
                <a:solidFill>
                  <a:srgbClr val="666699"/>
                </a:solidFill>
                <a:latin typeface="Verdana"/>
              </a:rPr>
              <a:t>Typography and colour palette follow the brand guide: Helvetica Neue for headers and balance figures, Verdana for labels and body text.</a:t>
            </a:r>
          </a:p>
        </p:txBody>
      </p:sp>
    </p:spTree>
    <p:extLst>
      <p:ext uri="{BB962C8B-B14F-4D97-AF65-F5344CB8AC3E}">
        <p14:creationId xmlns:p14="http://schemas.microsoft.com/office/powerpoint/2010/main" val="248446888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146</TotalTime>
  <Words>3</Words>
  <Application>Microsoft Macintosh PowerPoint</Application>
  <PresentationFormat>Widescreen</PresentationFormat>
  <Paragraphs>3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Arial</vt:lpstr>
      <vt:lpstr>Calibri</vt:lpstr>
      <vt:lpstr>Calibri Light</vt:lpstr>
      <vt:lpstr>Helvetica Neue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D Smailes</dc:creator>
  <cp:lastModifiedBy>D Smailes</cp:lastModifiedBy>
  <cp:revision>10</cp:revision>
  <cp:lastPrinted>2022-07-31T17:07:11Z</cp:lastPrinted>
  <dcterms:created xsi:type="dcterms:W3CDTF">2022-07-31T14:49:40Z</dcterms:created>
  <dcterms:modified xsi:type="dcterms:W3CDTF">2022-07-31T17:15:51Z</dcterms:modified>
</cp:coreProperties>
</file>